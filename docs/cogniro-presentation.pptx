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60000"/>
            <a:ext cx="12192119" cy="64800"/>
          </a:xfrm>
          <a:prstGeom prst="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1800000"/>
            <a:ext cx="10752119" cy="10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FFFFFF"/>
                </a:solidFill>
                <a:latin typeface="Calibri"/>
              </a:rPr>
              <a:t>Cogniro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3240000"/>
            <a:ext cx="10752119" cy="5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E8F0F9"/>
                </a:solidFill>
                <a:latin typeface="Calibri"/>
              </a:rPr>
              <a:t>Interaktywne quizy na żywo — z sali wykładowej, z telefonów uczestników.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4140000"/>
            <a:ext cx="10752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8F0F9"/>
                </a:solidFill>
                <a:latin typeface="Calibri"/>
              </a:rPr>
              <a:t>Wydział Informatyki  •  Akademia Górniczo-Hutnicza w Krakowie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2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92119" cy="36000"/>
          </a:xfrm>
          <a:prstGeom prst="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24000" y="180000"/>
            <a:ext cx="1080000" cy="360000"/>
          </a:xfrm>
          <a:prstGeom prst="round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4000" y="244800"/>
            <a:ext cx="108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KROK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48000" y="198000"/>
            <a:ext cx="10032119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Prowadzący loguje się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12119" y="270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E8F0F9"/>
                </a:solidFill>
                <a:latin typeface="Calibri"/>
              </a:rPr>
              <a:t>2 / 21</a:t>
            </a:r>
          </a:p>
        </p:txBody>
      </p:sp>
      <p:sp>
        <p:nvSpPr>
          <p:cNvPr id="8" name="Rectangle 7"/>
          <p:cNvSpPr/>
          <p:nvPr/>
        </p:nvSpPr>
        <p:spPr>
          <a:xfrm>
            <a:off x="2251259" y="1015200"/>
            <a:ext cx="7776000" cy="486000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dmin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8059" y="972000"/>
            <a:ext cx="7776000" cy="486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2000" y="5976000"/>
            <a:ext cx="11328119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1A1A1A"/>
                </a:solidFill>
                <a:latin typeface="Calibri"/>
              </a:rPr>
              <a:t>Wchodzi na adres aplikacji, podaje hasło — i już jest w środku.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2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92119" cy="36000"/>
          </a:xfrm>
          <a:prstGeom prst="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24000" y="180000"/>
            <a:ext cx="1080000" cy="360000"/>
          </a:xfrm>
          <a:prstGeom prst="round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4000" y="244800"/>
            <a:ext cx="108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KROK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48000" y="198000"/>
            <a:ext cx="10032119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Widzi swoją bibliotekę quizów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12119" y="270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E8F0F9"/>
                </a:solidFill>
                <a:latin typeface="Calibri"/>
              </a:rPr>
              <a:t>3 / 21</a:t>
            </a:r>
          </a:p>
        </p:txBody>
      </p:sp>
      <p:sp>
        <p:nvSpPr>
          <p:cNvPr id="8" name="Rectangle 7"/>
          <p:cNvSpPr/>
          <p:nvPr/>
        </p:nvSpPr>
        <p:spPr>
          <a:xfrm>
            <a:off x="2251259" y="1015200"/>
            <a:ext cx="7776000" cy="486000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dmin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8059" y="972000"/>
            <a:ext cx="7776000" cy="486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2000" y="5976000"/>
            <a:ext cx="11328119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1A1A1A"/>
                </a:solidFill>
                <a:latin typeface="Calibri"/>
              </a:rPr>
              <a:t>To jego kokpit. Stąd otwiera istniejący quiz albo zaczyna nowy.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2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92119" cy="36000"/>
          </a:xfrm>
          <a:prstGeom prst="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24000" y="180000"/>
            <a:ext cx="1080000" cy="360000"/>
          </a:xfrm>
          <a:prstGeom prst="round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4000" y="244800"/>
            <a:ext cx="108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KROK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48000" y="198000"/>
            <a:ext cx="10032119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Klika „Stwórz nowy quiz”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12119" y="270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E8F0F9"/>
                </a:solidFill>
                <a:latin typeface="Calibri"/>
              </a:rPr>
              <a:t>4 / 21</a:t>
            </a:r>
          </a:p>
        </p:txBody>
      </p:sp>
      <p:sp>
        <p:nvSpPr>
          <p:cNvPr id="8" name="Rectangle 7"/>
          <p:cNvSpPr/>
          <p:nvPr/>
        </p:nvSpPr>
        <p:spPr>
          <a:xfrm>
            <a:off x="2251259" y="1015200"/>
            <a:ext cx="7776000" cy="486000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ditor-emp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8059" y="972000"/>
            <a:ext cx="7776000" cy="486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2000" y="5976000"/>
            <a:ext cx="11328119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1A1A1A"/>
                </a:solidFill>
                <a:latin typeface="Calibri"/>
              </a:rPr>
              <a:t>Otwiera się czysty formularz. Wystarczy podać tytuł, reszta jest opcjonalna.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2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92119" cy="36000"/>
          </a:xfrm>
          <a:prstGeom prst="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24000" y="180000"/>
            <a:ext cx="1080000" cy="360000"/>
          </a:xfrm>
          <a:prstGeom prst="round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4000" y="244800"/>
            <a:ext cx="108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KROK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48000" y="198000"/>
            <a:ext cx="10032119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Wypełnia ustawienia quizu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12119" y="270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E8F0F9"/>
                </a:solidFill>
                <a:latin typeface="Calibri"/>
              </a:rPr>
              <a:t>5 / 21</a:t>
            </a:r>
          </a:p>
        </p:txBody>
      </p:sp>
      <p:sp>
        <p:nvSpPr>
          <p:cNvPr id="8" name="Rectangle 7"/>
          <p:cNvSpPr/>
          <p:nvPr/>
        </p:nvSpPr>
        <p:spPr>
          <a:xfrm>
            <a:off x="2251259" y="1015200"/>
            <a:ext cx="7776000" cy="486000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dmin-quiz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8059" y="972000"/>
            <a:ext cx="7776000" cy="486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2000" y="5976000"/>
            <a:ext cx="11328119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1A1A1A"/>
                </a:solidFill>
                <a:latin typeface="Calibri"/>
              </a:rPr>
              <a:t>Tytuł, opis, autor, opcjonalne tagi, limit czasu i inne opcje gry — wszystko w jednym miejscu.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2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92119" cy="36000"/>
          </a:xfrm>
          <a:prstGeom prst="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24000" y="180000"/>
            <a:ext cx="1080000" cy="360000"/>
          </a:xfrm>
          <a:prstGeom prst="round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4000" y="244800"/>
            <a:ext cx="108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KROK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48000" y="198000"/>
            <a:ext cx="10032119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Przewija do sekcji pytań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12119" y="270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E8F0F9"/>
                </a:solidFill>
                <a:latin typeface="Calibri"/>
              </a:rPr>
              <a:t>6 / 21</a:t>
            </a:r>
          </a:p>
        </p:txBody>
      </p:sp>
      <p:sp>
        <p:nvSpPr>
          <p:cNvPr id="8" name="Rectangle 7"/>
          <p:cNvSpPr/>
          <p:nvPr/>
        </p:nvSpPr>
        <p:spPr>
          <a:xfrm>
            <a:off x="2251259" y="1015200"/>
            <a:ext cx="7776000" cy="486000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ditor-emp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8059" y="972000"/>
            <a:ext cx="7776000" cy="486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2000" y="5976000"/>
            <a:ext cx="11328119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1A1A1A"/>
                </a:solidFill>
                <a:latin typeface="Calibri"/>
              </a:rPr>
              <a:t>Pod ustawieniami jest lista pytań i przycisk „Dodaj pytanie”.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2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92119" cy="36000"/>
          </a:xfrm>
          <a:prstGeom prst="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24000" y="180000"/>
            <a:ext cx="1080000" cy="360000"/>
          </a:xfrm>
          <a:prstGeom prst="round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4000" y="244800"/>
            <a:ext cx="108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KROK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48000" y="198000"/>
            <a:ext cx="10032119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Dodaje pierwsze pytanie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12119" y="270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E8F0F9"/>
                </a:solidFill>
                <a:latin typeface="Calibri"/>
              </a:rPr>
              <a:t>7 / 21</a:t>
            </a:r>
          </a:p>
        </p:txBody>
      </p:sp>
      <p:sp>
        <p:nvSpPr>
          <p:cNvPr id="8" name="Rectangle 7"/>
          <p:cNvSpPr/>
          <p:nvPr/>
        </p:nvSpPr>
        <p:spPr>
          <a:xfrm>
            <a:off x="2251259" y="1015200"/>
            <a:ext cx="7776000" cy="486000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ditor-question-just-ad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8059" y="972000"/>
            <a:ext cx="7776000" cy="486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2000" y="5976000"/>
            <a:ext cx="11328119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1A1A1A"/>
                </a:solidFill>
                <a:latin typeface="Calibri"/>
              </a:rPr>
              <a:t>Wybiera typ, wpisuje treść i odpowiedzi. Może dorzucić zdjęcie albo podpowiedź.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2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92119" cy="36000"/>
          </a:xfrm>
          <a:prstGeom prst="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24000" y="180000"/>
            <a:ext cx="1080000" cy="360000"/>
          </a:xfrm>
          <a:prstGeom prst="round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4000" y="244800"/>
            <a:ext cx="108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KROK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48000" y="198000"/>
            <a:ext cx="10032119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Gotowy quiz z czterema pytaniami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12119" y="270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E8F0F9"/>
                </a:solidFill>
                <a:latin typeface="Calibri"/>
              </a:rPr>
              <a:t>8 / 21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1259" y="1015200"/>
            <a:ext cx="2916000" cy="486000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ditor-full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8059" y="972000"/>
            <a:ext cx="2916000" cy="486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2000" y="5976000"/>
            <a:ext cx="11328119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1A1A1A"/>
                </a:solidFill>
                <a:latin typeface="Calibri"/>
              </a:rPr>
              <a:t>W jednym quizie można mieszać wszystkie cztery typy pytań — i zapisać jednym kliknięciem.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2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92119" cy="36000"/>
          </a:xfrm>
          <a:prstGeom prst="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98000"/>
            <a:ext cx="11472119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Typ pytania: Jednokrotny wybór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119" y="270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E8F0F9"/>
                </a:solidFill>
                <a:latin typeface="Calibri"/>
              </a:rPr>
              <a:t>9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917999"/>
            <a:ext cx="738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Tak wygląda edycja</a:t>
            </a:r>
          </a:p>
        </p:txBody>
      </p:sp>
      <p:sp>
        <p:nvSpPr>
          <p:cNvPr id="7" name="Rectangle 6"/>
          <p:cNvSpPr/>
          <p:nvPr/>
        </p:nvSpPr>
        <p:spPr>
          <a:xfrm>
            <a:off x="1270017" y="1231200"/>
            <a:ext cx="5502365" cy="453600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ditor-singlechoice-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6817" y="1188000"/>
            <a:ext cx="5502365" cy="4536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920000" y="917999"/>
            <a:ext cx="396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Tak widzi uczestnik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63200" y="2261700"/>
            <a:ext cx="3960000" cy="247500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lay-q1-singlechoi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0" y="2218500"/>
            <a:ext cx="3960000" cy="2475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88000" y="5976000"/>
            <a:ext cx="11616119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0" i="1">
                <a:solidFill>
                  <a:srgbClr val="1A1A1A"/>
                </a:solidFill>
                <a:latin typeface="Calibri"/>
              </a:rPr>
              <a:t>Klasyka. W edytorze wpisujesz pytanie i kilka odpowiedzi — zaznaczasz jedną poprawną. Uczestnik wybiera jedną opcję i zatwierdza.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2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92119" cy="36000"/>
          </a:xfrm>
          <a:prstGeom prst="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98000"/>
            <a:ext cx="11472119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Typ pytania: Wielokrotny wybór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119" y="270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E8F0F9"/>
                </a:solidFill>
                <a:latin typeface="Calibri"/>
              </a:rPr>
              <a:t>10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917999"/>
            <a:ext cx="738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Tak wygląda edycja</a:t>
            </a:r>
          </a:p>
        </p:txBody>
      </p:sp>
      <p:sp>
        <p:nvSpPr>
          <p:cNvPr id="7" name="Rectangle 6"/>
          <p:cNvSpPr/>
          <p:nvPr/>
        </p:nvSpPr>
        <p:spPr>
          <a:xfrm>
            <a:off x="1515172" y="1231200"/>
            <a:ext cx="5012055" cy="453600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ditor-multichoice-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1972" y="1188000"/>
            <a:ext cx="5012055" cy="4536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920000" y="917999"/>
            <a:ext cx="396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Tak widzi uczestnik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63200" y="2261700"/>
            <a:ext cx="3960000" cy="247500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lay-q2-multichoi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0" y="2218500"/>
            <a:ext cx="3960000" cy="2475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88000" y="5976000"/>
            <a:ext cx="11616119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0" i="1">
                <a:solidFill>
                  <a:srgbClr val="1A1A1A"/>
                </a:solidFill>
                <a:latin typeface="Calibri"/>
              </a:rPr>
              <a:t>Zaznaczasz w edytorze wszystkie poprawne odpowiedzi. Uczestnik widzi pola z checkboxami — może wybrać dowolnie wiele.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2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92119" cy="36000"/>
          </a:xfrm>
          <a:prstGeom prst="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98000"/>
            <a:ext cx="11472119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Typ pytania: Prawda / Fałsz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119" y="270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E8F0F9"/>
                </a:solidFill>
                <a:latin typeface="Calibri"/>
              </a:rPr>
              <a:t>11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917999"/>
            <a:ext cx="738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Tak wygląda edycja</a:t>
            </a:r>
          </a:p>
        </p:txBody>
      </p:sp>
      <p:sp>
        <p:nvSpPr>
          <p:cNvPr id="7" name="Rectangle 6"/>
          <p:cNvSpPr/>
          <p:nvPr/>
        </p:nvSpPr>
        <p:spPr>
          <a:xfrm>
            <a:off x="331200" y="1667426"/>
            <a:ext cx="7380000" cy="3663548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ditor-truefalse-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00" y="1624226"/>
            <a:ext cx="7380000" cy="36635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920000" y="917999"/>
            <a:ext cx="396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Tak widzi uczestnik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63200" y="2261700"/>
            <a:ext cx="3960000" cy="247500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lay-q3-truefal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0" y="2218500"/>
            <a:ext cx="3960000" cy="2475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88000" y="5976000"/>
            <a:ext cx="11616119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0" i="1">
                <a:solidFill>
                  <a:srgbClr val="1A1A1A"/>
                </a:solidFill>
                <a:latin typeface="Calibri"/>
              </a:rPr>
              <a:t>Najkrótsza forma — w edytorze tylko przełącznik Prawda/Fałsz. Uczestnik dostaje dwa duże przyciski i wybiera jedno kliknięcie.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2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92119" cy="36000"/>
          </a:xfrm>
          <a:prstGeom prst="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98000"/>
            <a:ext cx="11472119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Typ pytania: Suwak liczbowy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119" y="270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E8F0F9"/>
                </a:solidFill>
                <a:latin typeface="Calibri"/>
              </a:rPr>
              <a:t>12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917999"/>
            <a:ext cx="738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Tak wygląda edycja</a:t>
            </a:r>
          </a:p>
        </p:txBody>
      </p:sp>
      <p:sp>
        <p:nvSpPr>
          <p:cNvPr id="7" name="Rectangle 6"/>
          <p:cNvSpPr/>
          <p:nvPr/>
        </p:nvSpPr>
        <p:spPr>
          <a:xfrm>
            <a:off x="1183657" y="1231200"/>
            <a:ext cx="5675085" cy="453600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ditor-slider-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457" y="1188000"/>
            <a:ext cx="5675085" cy="4536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920000" y="917999"/>
            <a:ext cx="396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Tak widzi uczestnik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63200" y="2261700"/>
            <a:ext cx="3960000" cy="247500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lay-q4-sli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0" y="2218500"/>
            <a:ext cx="3960000" cy="2475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88000" y="5976000"/>
            <a:ext cx="11616119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0" i="1">
                <a:solidFill>
                  <a:srgbClr val="1A1A1A"/>
                </a:solidFill>
                <a:latin typeface="Calibri"/>
              </a:rPr>
              <a:t>W edytorze podajesz min, max, poprawną wartość i tolerancję. Uczestnik przesuwa suwak na osi i zatwierdza wartość.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2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92119" cy="36000"/>
          </a:xfrm>
          <a:prstGeom prst="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24000" y="180000"/>
            <a:ext cx="1080000" cy="360000"/>
          </a:xfrm>
          <a:prstGeom prst="round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4000" y="244800"/>
            <a:ext cx="108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KROK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48000" y="198000"/>
            <a:ext cx="10032119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Uruchamia quiz dla uczestników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12119" y="270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E8F0F9"/>
                </a:solidFill>
                <a:latin typeface="Calibri"/>
              </a:rPr>
              <a:t>13 / 21</a:t>
            </a:r>
          </a:p>
        </p:txBody>
      </p:sp>
      <p:sp>
        <p:nvSpPr>
          <p:cNvPr id="8" name="Rectangle 7"/>
          <p:cNvSpPr/>
          <p:nvPr/>
        </p:nvSpPr>
        <p:spPr>
          <a:xfrm>
            <a:off x="2251259" y="1015200"/>
            <a:ext cx="7776000" cy="486000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dmin-quiz-ac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8059" y="972000"/>
            <a:ext cx="7776000" cy="486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2000" y="5976000"/>
            <a:ext cx="11328119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1A1A1A"/>
                </a:solidFill>
                <a:latin typeface="Calibri"/>
              </a:rPr>
              <a:t>Quiz dostaje status „Aktywny”, a obok pojawia się duży przycisk „Pokaż kod QR”.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2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92119" cy="36000"/>
          </a:xfrm>
          <a:prstGeom prst="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24000" y="180000"/>
            <a:ext cx="1080000" cy="360000"/>
          </a:xfrm>
          <a:prstGeom prst="round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4000" y="244800"/>
            <a:ext cx="108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KROK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48000" y="198000"/>
            <a:ext cx="10032119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Pokazuje plansze z kodem QR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12119" y="270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E8F0F9"/>
                </a:solidFill>
                <a:latin typeface="Calibri"/>
              </a:rPr>
              <a:t>14 / 21</a:t>
            </a:r>
          </a:p>
        </p:txBody>
      </p:sp>
      <p:sp>
        <p:nvSpPr>
          <p:cNvPr id="8" name="Rectangle 7"/>
          <p:cNvSpPr/>
          <p:nvPr/>
        </p:nvSpPr>
        <p:spPr>
          <a:xfrm>
            <a:off x="2251259" y="1015200"/>
            <a:ext cx="7776000" cy="486000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esenter-ac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8059" y="972000"/>
            <a:ext cx="7776000" cy="486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2000" y="5976000"/>
            <a:ext cx="11328119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1A1A1A"/>
                </a:solidFill>
                <a:latin typeface="Calibri"/>
              </a:rPr>
              <a:t>Otwiera osobne okno do wyświetlenia na rzutniku — wielki QR, sześcioznakowy PIN i pełny link.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2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92119" cy="36000"/>
          </a:xfrm>
          <a:prstGeom prst="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24000" y="180000"/>
            <a:ext cx="1080000" cy="360000"/>
          </a:xfrm>
          <a:prstGeom prst="round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4000" y="244800"/>
            <a:ext cx="108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KROK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48000" y="198000"/>
            <a:ext cx="10032119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Uczestnik skanuje kod telefonem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12119" y="270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E8F0F9"/>
                </a:solidFill>
                <a:latin typeface="Calibri"/>
              </a:rPr>
              <a:t>15 / 21</a:t>
            </a:r>
          </a:p>
        </p:txBody>
      </p:sp>
      <p:sp>
        <p:nvSpPr>
          <p:cNvPr id="8" name="Rectangle 7"/>
          <p:cNvSpPr/>
          <p:nvPr/>
        </p:nvSpPr>
        <p:spPr>
          <a:xfrm>
            <a:off x="2251259" y="1015200"/>
            <a:ext cx="7776000" cy="486000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lay-1-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8059" y="972000"/>
            <a:ext cx="7776000" cy="486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2000" y="5976000"/>
            <a:ext cx="11328119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1A1A1A"/>
                </a:solidFill>
                <a:latin typeface="Calibri"/>
              </a:rPr>
              <a:t>Wchodzi na stronę dołączania. Kod ma już wpisany — wystarczy potwierdzić.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2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92119" cy="36000"/>
          </a:xfrm>
          <a:prstGeom prst="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24000" y="180000"/>
            <a:ext cx="1080000" cy="360000"/>
          </a:xfrm>
          <a:prstGeom prst="round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4000" y="244800"/>
            <a:ext cx="108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KROK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48000" y="198000"/>
            <a:ext cx="10032119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Uczestnik wybiera pseudonim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12119" y="270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E8F0F9"/>
                </a:solidFill>
                <a:latin typeface="Calibri"/>
              </a:rPr>
              <a:t>16 / 21</a:t>
            </a:r>
          </a:p>
        </p:txBody>
      </p:sp>
      <p:sp>
        <p:nvSpPr>
          <p:cNvPr id="8" name="Rectangle 7"/>
          <p:cNvSpPr/>
          <p:nvPr/>
        </p:nvSpPr>
        <p:spPr>
          <a:xfrm>
            <a:off x="2251259" y="1015200"/>
            <a:ext cx="7776000" cy="486000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lay-2-nickn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8059" y="972000"/>
            <a:ext cx="7776000" cy="486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2000" y="5976000"/>
            <a:ext cx="11328119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1A1A1A"/>
                </a:solidFill>
                <a:latin typeface="Calibri"/>
              </a:rPr>
              <a:t>Bez konta, bez maila — sam pseudonim wystarczy, by zacząć grę.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2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92119" cy="36000"/>
          </a:xfrm>
          <a:prstGeom prst="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24000" y="180000"/>
            <a:ext cx="1080000" cy="360000"/>
          </a:xfrm>
          <a:prstGeom prst="round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4000" y="244800"/>
            <a:ext cx="108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KROK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48000" y="198000"/>
            <a:ext cx="10032119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Uczestnik odpowiada na pytania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12119" y="270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E8F0F9"/>
                </a:solidFill>
                <a:latin typeface="Calibri"/>
              </a:rPr>
              <a:t>17 / 21</a:t>
            </a:r>
          </a:p>
        </p:txBody>
      </p:sp>
      <p:sp>
        <p:nvSpPr>
          <p:cNvPr id="8" name="Rectangle 7"/>
          <p:cNvSpPr/>
          <p:nvPr/>
        </p:nvSpPr>
        <p:spPr>
          <a:xfrm>
            <a:off x="2251259" y="1015200"/>
            <a:ext cx="7776000" cy="486000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lay-3-ques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8059" y="972000"/>
            <a:ext cx="7776000" cy="486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2000" y="5976000"/>
            <a:ext cx="11328119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1A1A1A"/>
                </a:solidFill>
                <a:latin typeface="Calibri"/>
              </a:rPr>
              <a:t>Pytanie, licznik czasu, opcje do wyboru, duży przycisk zatwierdzenia. Wszystko pod telefon.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2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92119" cy="36000"/>
          </a:xfrm>
          <a:prstGeom prst="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24000" y="180000"/>
            <a:ext cx="1080000" cy="360000"/>
          </a:xfrm>
          <a:prstGeom prst="round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4000" y="244800"/>
            <a:ext cx="108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KROK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48000" y="198000"/>
            <a:ext cx="10032119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Prowadzący widzi sesję na żywo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12119" y="270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E8F0F9"/>
                </a:solidFill>
                <a:latin typeface="Calibri"/>
              </a:rPr>
              <a:t>18 / 21</a:t>
            </a:r>
          </a:p>
        </p:txBody>
      </p:sp>
      <p:sp>
        <p:nvSpPr>
          <p:cNvPr id="8" name="Rectangle 7"/>
          <p:cNvSpPr/>
          <p:nvPr/>
        </p:nvSpPr>
        <p:spPr>
          <a:xfrm>
            <a:off x="2251259" y="1015200"/>
            <a:ext cx="7776000" cy="486000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dmin-run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8059" y="972000"/>
            <a:ext cx="7776000" cy="486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2000" y="5976000"/>
            <a:ext cx="11328119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1A1A1A"/>
                </a:solidFill>
                <a:latin typeface="Calibri"/>
              </a:rPr>
              <a:t>Lista uczestników aktualizuje się w czasie rzeczywistym — kto dołączył, kto odpowiedział, jakie ma punkty.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2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92119" cy="36000"/>
          </a:xfrm>
          <a:prstGeom prst="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24000" y="180000"/>
            <a:ext cx="1080000" cy="360000"/>
          </a:xfrm>
          <a:prstGeom prst="round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4000" y="244800"/>
            <a:ext cx="108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KROK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48000" y="198000"/>
            <a:ext cx="10032119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Po zakończeniu — Statystyki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12119" y="270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E8F0F9"/>
                </a:solidFill>
                <a:latin typeface="Calibri"/>
              </a:rPr>
              <a:t>19 / 21</a:t>
            </a:r>
          </a:p>
        </p:txBody>
      </p:sp>
      <p:sp>
        <p:nvSpPr>
          <p:cNvPr id="8" name="Rectangle 7"/>
          <p:cNvSpPr/>
          <p:nvPr/>
        </p:nvSpPr>
        <p:spPr>
          <a:xfrm>
            <a:off x="2251259" y="1015200"/>
            <a:ext cx="7776000" cy="486000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dmin-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8059" y="972000"/>
            <a:ext cx="7776000" cy="486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2000" y="5976000"/>
            <a:ext cx="11328119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1A1A1A"/>
                </a:solidFill>
                <a:latin typeface="Calibri"/>
              </a:rPr>
              <a:t>Każda sesja zapisana w tabeli. Po kliknięciu — szczegóły każdej osoby.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20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12192119" cy="36000"/>
          </a:xfrm>
          <a:prstGeom prst="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98000"/>
            <a:ext cx="11472119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Dlaczego Cogniro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119" y="270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E8F0F9"/>
                </a:solidFill>
                <a:latin typeface="Calibri"/>
              </a:rPr>
              <a:t>20 / 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0000" y="1260000"/>
            <a:ext cx="3584039" cy="2340000"/>
          </a:xfrm>
          <a:prstGeom prst="roundRect">
            <a:avLst/>
          </a:prstGeom>
          <a:solidFill>
            <a:srgbClr val="E8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0000" y="1260000"/>
            <a:ext cx="3584039" cy="125999"/>
          </a:xfrm>
          <a:prstGeom prst="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0000" y="1548000"/>
            <a:ext cx="3224039" cy="5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F4E79"/>
                </a:solidFill>
                <a:latin typeface="Calibri"/>
              </a:rPr>
              <a:t>Bez kont, bez instalacji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000" y="2160000"/>
            <a:ext cx="3224039" cy="13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Uczestnik skanuje kod, wpisuje pseudonim, gra. To wszystko.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4039" y="1260000"/>
            <a:ext cx="3584039" cy="2340000"/>
          </a:xfrm>
          <a:prstGeom prst="roundRect">
            <a:avLst/>
          </a:prstGeom>
          <a:solidFill>
            <a:srgbClr val="E8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04039" y="1260000"/>
            <a:ext cx="3584039" cy="125999"/>
          </a:xfrm>
          <a:prstGeom prst="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4039" y="1548000"/>
            <a:ext cx="3224039" cy="5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F4E79"/>
                </a:solidFill>
                <a:latin typeface="Calibri"/>
              </a:rPr>
              <a:t>Lekka i szybka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4039" y="2160000"/>
            <a:ext cx="3224039" cy="13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Działa w zwykłej przeglądarce — nawet słabszy telefon wystarczy.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68079" y="1260000"/>
            <a:ext cx="3584039" cy="2340000"/>
          </a:xfrm>
          <a:prstGeom prst="roundRect">
            <a:avLst/>
          </a:prstGeom>
          <a:solidFill>
            <a:srgbClr val="E8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68079" y="1260000"/>
            <a:ext cx="3584039" cy="125999"/>
          </a:xfrm>
          <a:prstGeom prst="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8079" y="1548000"/>
            <a:ext cx="3224039" cy="5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F4E79"/>
                </a:solidFill>
                <a:latin typeface="Calibri"/>
              </a:rPr>
              <a:t>Dla dużej sali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8079" y="2160000"/>
            <a:ext cx="3224039" cy="13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Od kilku do kilkuset uczestników jednocześnie, bez limitów.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0000" y="3816000"/>
            <a:ext cx="3584039" cy="2340000"/>
          </a:xfrm>
          <a:prstGeom prst="roundRect">
            <a:avLst/>
          </a:prstGeom>
          <a:solidFill>
            <a:srgbClr val="E8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0000" y="3816000"/>
            <a:ext cx="3584039" cy="125999"/>
          </a:xfrm>
          <a:prstGeom prst="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0000" y="4104000"/>
            <a:ext cx="3224039" cy="5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F4E79"/>
                </a:solidFill>
                <a:latin typeface="Calibri"/>
              </a:rPr>
              <a:t>Wasze dane zostają u Was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0000" y="4716000"/>
            <a:ext cx="3224039" cy="13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Quizy i wyniki nie wędrują do żadnej obcej chmury.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04039" y="3816000"/>
            <a:ext cx="3584039" cy="2340000"/>
          </a:xfrm>
          <a:prstGeom prst="roundRect">
            <a:avLst/>
          </a:prstGeom>
          <a:solidFill>
            <a:srgbClr val="E8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04039" y="3816000"/>
            <a:ext cx="3584039" cy="125999"/>
          </a:xfrm>
          <a:prstGeom prst="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4039" y="4104000"/>
            <a:ext cx="3224039" cy="5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F4E79"/>
                </a:solidFill>
                <a:latin typeface="Calibri"/>
              </a:rPr>
              <a:t>Pełna kontrola w trakcie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4039" y="4716000"/>
            <a:ext cx="3224039" cy="13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Widzicie kto dołączył, kto odpowiedział, możecie zablokować lub zakończyć.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68079" y="3816000"/>
            <a:ext cx="3584039" cy="2340000"/>
          </a:xfrm>
          <a:prstGeom prst="roundRect">
            <a:avLst/>
          </a:prstGeom>
          <a:solidFill>
            <a:srgbClr val="E8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68079" y="3816000"/>
            <a:ext cx="3584039" cy="125999"/>
          </a:xfrm>
          <a:prstGeom prst="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48079" y="4104000"/>
            <a:ext cx="3224039" cy="5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F4E79"/>
                </a:solidFill>
                <a:latin typeface="Calibri"/>
              </a:rPr>
              <a:t>Łatwe przenoszenie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8079" y="4716000"/>
            <a:ext cx="3224039" cy="13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Cały quiz w jednym pliku — między komputerami, między prowadzącymi.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60000"/>
            <a:ext cx="12192119" cy="64800"/>
          </a:xfrm>
          <a:prstGeom prst="rect">
            <a:avLst/>
          </a:prstGeom>
          <a:solidFill>
            <a:srgbClr val="E8B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1980000"/>
            <a:ext cx="10752119" cy="10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FFFFFF"/>
                </a:solidFill>
                <a:latin typeface="Calibri"/>
              </a:rPr>
              <a:t>Pytania?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3600000"/>
            <a:ext cx="10752119" cy="5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E8F0F9"/>
                </a:solidFill>
                <a:latin typeface="Calibri"/>
              </a:rPr>
              <a:t>Dziękujemy za uwagę.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